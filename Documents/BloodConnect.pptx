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wmya V L" userId="9f97a06e3af5edc8" providerId="LiveId" clId="{8B3821FF-7B62-4688-89AB-D0F490340B36}"/>
    <pc:docChg chg="undo custSel modSld modMainMaster">
      <pc:chgData name="Sowmya V L" userId="9f97a06e3af5edc8" providerId="LiveId" clId="{8B3821FF-7B62-4688-89AB-D0F490340B36}" dt="2026-10-27T04:38:42.749" v="48" actId="478"/>
      <pc:docMkLst>
        <pc:docMk/>
      </pc:docMkLst>
      <pc:sldChg chg="modSp mod">
        <pc:chgData name="Sowmya V L" userId="9f97a06e3af5edc8" providerId="LiveId" clId="{8B3821FF-7B62-4688-89AB-D0F490340B36}" dt="2026-10-27T04:19:25.737" v="17" actId="20577"/>
        <pc:sldMkLst>
          <pc:docMk/>
          <pc:sldMk cId="0" sldId="256"/>
        </pc:sldMkLst>
        <pc:spChg chg="mod">
          <ac:chgData name="Sowmya V L" userId="9f97a06e3af5edc8" providerId="LiveId" clId="{8B3821FF-7B62-4688-89AB-D0F490340B36}" dt="2026-10-27T04:19:25.737" v="17" actId="20577"/>
          <ac:spMkLst>
            <pc:docMk/>
            <pc:sldMk cId="0" sldId="256"/>
            <ac:spMk id="5" creationId="{00000000-0000-0000-0000-000000000000}"/>
          </ac:spMkLst>
        </pc:spChg>
      </pc:sldChg>
      <pc:sldChg chg="delSp modSp mod">
        <pc:chgData name="Sowmya V L" userId="9f97a06e3af5edc8" providerId="LiveId" clId="{8B3821FF-7B62-4688-89AB-D0F490340B36}" dt="2026-10-27T04:37:22.296" v="37" actId="478"/>
        <pc:sldMkLst>
          <pc:docMk/>
          <pc:sldMk cId="0" sldId="257"/>
        </pc:sldMkLst>
        <pc:spChg chg="del mod">
          <ac:chgData name="Sowmya V L" userId="9f97a06e3af5edc8" providerId="LiveId" clId="{8B3821FF-7B62-4688-89AB-D0F490340B36}" dt="2026-10-27T04:37:22.296" v="37" actId="478"/>
          <ac:spMkLst>
            <pc:docMk/>
            <pc:sldMk cId="0" sldId="257"/>
            <ac:spMk id="7" creationId="{00000000-0000-0000-0000-000000000000}"/>
          </ac:spMkLst>
        </pc:spChg>
      </pc:sldChg>
      <pc:sldChg chg="addSp delSp mod">
        <pc:chgData name="Sowmya V L" userId="9f97a06e3af5edc8" providerId="LiveId" clId="{8B3821FF-7B62-4688-89AB-D0F490340B36}" dt="2026-10-27T04:37:25.813" v="38" actId="478"/>
        <pc:sldMkLst>
          <pc:docMk/>
          <pc:sldMk cId="0" sldId="258"/>
        </pc:sldMkLst>
        <pc:spChg chg="del">
          <ac:chgData name="Sowmya V L" userId="9f97a06e3af5edc8" providerId="LiveId" clId="{8B3821FF-7B62-4688-89AB-D0F490340B36}" dt="2026-10-27T04:36:55.454" v="28" actId="478"/>
          <ac:spMkLst>
            <pc:docMk/>
            <pc:sldMk cId="0" sldId="258"/>
            <ac:spMk id="7" creationId="{00000000-0000-0000-0000-000000000000}"/>
          </ac:spMkLst>
        </pc:spChg>
        <pc:spChg chg="add del">
          <ac:chgData name="Sowmya V L" userId="9f97a06e3af5edc8" providerId="LiveId" clId="{8B3821FF-7B62-4688-89AB-D0F490340B36}" dt="2026-10-27T04:37:25.813" v="38" actId="478"/>
          <ac:spMkLst>
            <pc:docMk/>
            <pc:sldMk cId="0" sldId="258"/>
            <ac:spMk id="12" creationId="{F0FB1091-ABA2-E770-1811-032827346861}"/>
          </ac:spMkLst>
        </pc:spChg>
      </pc:sldChg>
      <pc:sldChg chg="addSp delSp mod">
        <pc:chgData name="Sowmya V L" userId="9f97a06e3af5edc8" providerId="LiveId" clId="{8B3821FF-7B62-4688-89AB-D0F490340B36}" dt="2026-10-27T04:37:30.520" v="39" actId="478"/>
        <pc:sldMkLst>
          <pc:docMk/>
          <pc:sldMk cId="0" sldId="259"/>
        </pc:sldMkLst>
        <pc:spChg chg="del">
          <ac:chgData name="Sowmya V L" userId="9f97a06e3af5edc8" providerId="LiveId" clId="{8B3821FF-7B62-4688-89AB-D0F490340B36}" dt="2026-10-27T04:37:07.843" v="32" actId="478"/>
          <ac:spMkLst>
            <pc:docMk/>
            <pc:sldMk cId="0" sldId="259"/>
            <ac:spMk id="7" creationId="{00000000-0000-0000-0000-000000000000}"/>
          </ac:spMkLst>
        </pc:spChg>
        <pc:spChg chg="add del">
          <ac:chgData name="Sowmya V L" userId="9f97a06e3af5edc8" providerId="LiveId" clId="{8B3821FF-7B62-4688-89AB-D0F490340B36}" dt="2026-10-27T04:37:06.263" v="31" actId="22"/>
          <ac:spMkLst>
            <pc:docMk/>
            <pc:sldMk cId="0" sldId="259"/>
            <ac:spMk id="14" creationId="{F08AA471-6377-9213-EC91-B989CF5824DB}"/>
          </ac:spMkLst>
        </pc:spChg>
        <pc:spChg chg="add del">
          <ac:chgData name="Sowmya V L" userId="9f97a06e3af5edc8" providerId="LiveId" clId="{8B3821FF-7B62-4688-89AB-D0F490340B36}" dt="2026-10-27T04:37:30.520" v="39" actId="478"/>
          <ac:spMkLst>
            <pc:docMk/>
            <pc:sldMk cId="0" sldId="259"/>
            <ac:spMk id="16" creationId="{26F28FC0-1ECF-FA6D-414E-DB3941CBBAB9}"/>
          </ac:spMkLst>
        </pc:spChg>
      </pc:sldChg>
      <pc:sldChg chg="addSp delSp mod">
        <pc:chgData name="Sowmya V L" userId="9f97a06e3af5edc8" providerId="LiveId" clId="{8B3821FF-7B62-4688-89AB-D0F490340B36}" dt="2026-10-27T04:37:17.887" v="36" actId="478"/>
        <pc:sldMkLst>
          <pc:docMk/>
          <pc:sldMk cId="0" sldId="260"/>
        </pc:sldMkLst>
        <pc:spChg chg="del">
          <ac:chgData name="Sowmya V L" userId="9f97a06e3af5edc8" providerId="LiveId" clId="{8B3821FF-7B62-4688-89AB-D0F490340B36}" dt="2026-10-27T04:37:15.062" v="34" actId="478"/>
          <ac:spMkLst>
            <pc:docMk/>
            <pc:sldMk cId="0" sldId="260"/>
            <ac:spMk id="7" creationId="{00000000-0000-0000-0000-000000000000}"/>
          </ac:spMkLst>
        </pc:spChg>
        <pc:spChg chg="add del">
          <ac:chgData name="Sowmya V L" userId="9f97a06e3af5edc8" providerId="LiveId" clId="{8B3821FF-7B62-4688-89AB-D0F490340B36}" dt="2026-10-27T04:37:17.887" v="36" actId="478"/>
          <ac:spMkLst>
            <pc:docMk/>
            <pc:sldMk cId="0" sldId="260"/>
            <ac:spMk id="11" creationId="{631DD31D-D08B-624C-B07D-C64F5E0BE871}"/>
          </ac:spMkLst>
        </pc:spChg>
      </pc:sldChg>
      <pc:sldChg chg="delSp mod">
        <pc:chgData name="Sowmya V L" userId="9f97a06e3af5edc8" providerId="LiveId" clId="{8B3821FF-7B62-4688-89AB-D0F490340B36}" dt="2026-10-27T04:37:37.245" v="40" actId="478"/>
        <pc:sldMkLst>
          <pc:docMk/>
          <pc:sldMk cId="0" sldId="261"/>
        </pc:sldMkLst>
        <pc:spChg chg="del">
          <ac:chgData name="Sowmya V L" userId="9f97a06e3af5edc8" providerId="LiveId" clId="{8B3821FF-7B62-4688-89AB-D0F490340B36}" dt="2026-10-27T04:37:37.245" v="40" actId="478"/>
          <ac:spMkLst>
            <pc:docMk/>
            <pc:sldMk cId="0" sldId="261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40.024" v="41" actId="478"/>
        <pc:sldMkLst>
          <pc:docMk/>
          <pc:sldMk cId="0" sldId="262"/>
        </pc:sldMkLst>
        <pc:spChg chg="del">
          <ac:chgData name="Sowmya V L" userId="9f97a06e3af5edc8" providerId="LiveId" clId="{8B3821FF-7B62-4688-89AB-D0F490340B36}" dt="2026-10-27T04:37:40.024" v="41" actId="478"/>
          <ac:spMkLst>
            <pc:docMk/>
            <pc:sldMk cId="0" sldId="262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42.429" v="42" actId="478"/>
        <pc:sldMkLst>
          <pc:docMk/>
          <pc:sldMk cId="0" sldId="263"/>
        </pc:sldMkLst>
        <pc:spChg chg="del">
          <ac:chgData name="Sowmya V L" userId="9f97a06e3af5edc8" providerId="LiveId" clId="{8B3821FF-7B62-4688-89AB-D0F490340B36}" dt="2026-10-27T04:37:42.429" v="42" actId="478"/>
          <ac:spMkLst>
            <pc:docMk/>
            <pc:sldMk cId="0" sldId="263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47.590" v="43" actId="478"/>
        <pc:sldMkLst>
          <pc:docMk/>
          <pc:sldMk cId="0" sldId="264"/>
        </pc:sldMkLst>
        <pc:spChg chg="del">
          <ac:chgData name="Sowmya V L" userId="9f97a06e3af5edc8" providerId="LiveId" clId="{8B3821FF-7B62-4688-89AB-D0F490340B36}" dt="2026-10-27T04:37:47.590" v="43" actId="478"/>
          <ac:spMkLst>
            <pc:docMk/>
            <pc:sldMk cId="0" sldId="264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49.822" v="44" actId="478"/>
        <pc:sldMkLst>
          <pc:docMk/>
          <pc:sldMk cId="0" sldId="265"/>
        </pc:sldMkLst>
        <pc:spChg chg="del">
          <ac:chgData name="Sowmya V L" userId="9f97a06e3af5edc8" providerId="LiveId" clId="{8B3821FF-7B62-4688-89AB-D0F490340B36}" dt="2026-10-27T04:37:49.822" v="44" actId="478"/>
          <ac:spMkLst>
            <pc:docMk/>
            <pc:sldMk cId="0" sldId="265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51.901" v="45" actId="478"/>
        <pc:sldMkLst>
          <pc:docMk/>
          <pc:sldMk cId="0" sldId="266"/>
        </pc:sldMkLst>
        <pc:spChg chg="del">
          <ac:chgData name="Sowmya V L" userId="9f97a06e3af5edc8" providerId="LiveId" clId="{8B3821FF-7B62-4688-89AB-D0F490340B36}" dt="2026-10-27T04:37:51.901" v="45" actId="478"/>
          <ac:spMkLst>
            <pc:docMk/>
            <pc:sldMk cId="0" sldId="266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8:42.749" v="48" actId="478"/>
        <pc:sldMkLst>
          <pc:docMk/>
          <pc:sldMk cId="0" sldId="267"/>
        </pc:sldMkLst>
        <pc:spChg chg="del">
          <ac:chgData name="Sowmya V L" userId="9f97a06e3af5edc8" providerId="LiveId" clId="{8B3821FF-7B62-4688-89AB-D0F490340B36}" dt="2026-10-27T04:38:42.749" v="48" actId="478"/>
          <ac:spMkLst>
            <pc:docMk/>
            <pc:sldMk cId="0" sldId="267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53.665" v="46" actId="478"/>
        <pc:sldMkLst>
          <pc:docMk/>
          <pc:sldMk cId="0" sldId="268"/>
        </pc:sldMkLst>
        <pc:spChg chg="del">
          <ac:chgData name="Sowmya V L" userId="9f97a06e3af5edc8" providerId="LiveId" clId="{8B3821FF-7B62-4688-89AB-D0F490340B36}" dt="2026-10-27T04:37:53.665" v="46" actId="478"/>
          <ac:spMkLst>
            <pc:docMk/>
            <pc:sldMk cId="0" sldId="268"/>
            <ac:spMk id="7" creationId="{00000000-0000-0000-0000-000000000000}"/>
          </ac:spMkLst>
        </pc:spChg>
      </pc:sldChg>
      <pc:sldChg chg="delSp mod">
        <pc:chgData name="Sowmya V L" userId="9f97a06e3af5edc8" providerId="LiveId" clId="{8B3821FF-7B62-4688-89AB-D0F490340B36}" dt="2026-10-27T04:37:56.592" v="47" actId="478"/>
        <pc:sldMkLst>
          <pc:docMk/>
          <pc:sldMk cId="0" sldId="269"/>
        </pc:sldMkLst>
        <pc:spChg chg="del">
          <ac:chgData name="Sowmya V L" userId="9f97a06e3af5edc8" providerId="LiveId" clId="{8B3821FF-7B62-4688-89AB-D0F490340B36}" dt="2026-10-27T04:37:56.592" v="47" actId="478"/>
          <ac:spMkLst>
            <pc:docMk/>
            <pc:sldMk cId="0" sldId="269"/>
            <ac:spMk id="7" creationId="{00000000-0000-0000-0000-000000000000}"/>
          </ac:spMkLst>
        </pc:spChg>
      </pc:sldChg>
      <pc:sldMasterChg chg="modSldLayout">
        <pc:chgData name="Sowmya V L" userId="9f97a06e3af5edc8" providerId="LiveId" clId="{8B3821FF-7B62-4688-89AB-D0F490340B36}" dt="2026-10-27T04:36:33.251" v="27" actId="478"/>
        <pc:sldMasterMkLst>
          <pc:docMk/>
          <pc:sldMasterMk cId="2209977519" sldId="2147483648"/>
        </pc:sldMasterMkLst>
        <pc:sldLayoutChg chg="delSp mod">
          <pc:chgData name="Sowmya V L" userId="9f97a06e3af5edc8" providerId="LiveId" clId="{8B3821FF-7B62-4688-89AB-D0F490340B36}" dt="2026-10-27T04:36:33.251" v="27" actId="478"/>
          <pc:sldLayoutMkLst>
            <pc:docMk/>
            <pc:sldMasterMk cId="2209977519" sldId="2147483648"/>
            <pc:sldLayoutMk cId="1212999818" sldId="2147483655"/>
          </pc:sldLayoutMkLst>
          <pc:spChg chg="del">
            <ac:chgData name="Sowmya V L" userId="9f97a06e3af5edc8" providerId="LiveId" clId="{8B3821FF-7B62-4688-89AB-D0F490340B36}" dt="2026-10-27T04:36:33.251" v="27" actId="478"/>
            <ac:spMkLst>
              <pc:docMk/>
              <pc:sldMasterMk cId="2209977519" sldId="2147483648"/>
              <pc:sldLayoutMk cId="1212999818" sldId="2147483655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busres.2023.113980" TargetMode="External"/><Relationship Id="rId7" Type="http://schemas.openxmlformats.org/officeDocument/2006/relationships/hyperlink" Target="https://doi.org/10.1109/ICSSA66150.2025.11080959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11/tme.70075" TargetMode="External"/><Relationship Id="rId5" Type="http://schemas.openxmlformats.org/officeDocument/2006/relationships/hyperlink" Target="https://doi.org/10.1111/trf.12740" TargetMode="External"/><Relationship Id="rId4" Type="http://schemas.openxmlformats.org/officeDocument/2006/relationships/hyperlink" Target="https://doi.org/10.1016/j.clscn.2022.100078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0380"/>
            <a:ext cx="9418320" cy="14617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691640"/>
            <a:ext cx="12191695" cy="45720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4754880" cy="411480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475488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SOCIETAL PROJECT (1BSOP308)  ·  REVIEW I</a:t>
            </a:r>
          </a:p>
        </p:txBody>
      </p:sp>
      <p:sp>
        <p:nvSpPr>
          <p:cNvPr id="6" name="Teardrop 5"/>
          <p:cNvSpPr/>
          <p:nvPr/>
        </p:nvSpPr>
        <p:spPr>
          <a:xfrm rot="18900000">
            <a:off x="731520" y="2852928"/>
            <a:ext cx="658368" cy="658368"/>
          </a:xfrm>
          <a:prstGeom prst="teardrop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2606040"/>
            <a:ext cx="5760720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14285F"/>
                </a:solidFill>
                <a:latin typeface="Segoe UI"/>
              </a:rPr>
              <a:t>BloodConnect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57600"/>
            <a:ext cx="65836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C81423"/>
                </a:solidFill>
                <a:latin typeface="Segoe UI"/>
              </a:rPr>
              <a:t>Emergency Blood Donor Matching for Bengaluru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114800"/>
            <a:ext cx="65836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Department of Artificial Intelligence and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17720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81423"/>
                </a:solidFill>
                <a:latin typeface="Segoe UI"/>
              </a:rPr>
              <a:t>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37760"/>
            <a:ext cx="1572768" cy="713232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57276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Ranjitha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22576" y="4937760"/>
            <a:ext cx="1572768" cy="713232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22576" y="4937760"/>
            <a:ext cx="157276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Mithun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4937760"/>
            <a:ext cx="1572768" cy="713232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5072" y="4937760"/>
            <a:ext cx="157276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Nikhil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87568" y="4937760"/>
            <a:ext cx="1572768" cy="713232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87568" y="4937760"/>
            <a:ext cx="157276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Rakshitha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79008"/>
            <a:ext cx="65836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Academic Year  2026 –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057400"/>
            <a:ext cx="4114800" cy="43434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C81423"/>
              </a:gs>
              <a:gs pos="100000">
                <a:srgbClr val="0A163A"/>
              </a:gs>
            </a:gsLst>
            <a:lin ang="3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26679" y="2514600"/>
            <a:ext cx="356616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01_homepage_white_t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764916"/>
            <a:ext cx="3383280" cy="2114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26679" y="5349240"/>
            <a:ext cx="3566160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Compatible  ·  Nearby  ·  Available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256032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C81423"/>
                </a:solidFill>
                <a:latin typeface="Segoe UI"/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63239"/>
            <a:ext cx="502920" cy="4572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About &amp; Review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103120"/>
            <a:ext cx="256032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14285F"/>
                </a:solidFill>
                <a:latin typeface="Segoe UI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3063239"/>
            <a:ext cx="502920" cy="45720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0" y="3200400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Problem &amp; need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103120"/>
            <a:ext cx="256032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C81423"/>
                </a:solidFill>
                <a:latin typeface="Segoe UI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063239"/>
            <a:ext cx="502920" cy="4572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3200400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Literature &amp;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103120"/>
            <a:ext cx="256032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14285F"/>
                </a:solidFill>
                <a:latin typeface="Segoe U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3063239"/>
            <a:ext cx="502920" cy="45720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0" y="3200400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256032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14285F"/>
                </a:solidFill>
                <a:latin typeface="Segoe UI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120640"/>
            <a:ext cx="502920" cy="45720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257800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System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160520"/>
            <a:ext cx="256032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C81423"/>
                </a:solidFill>
                <a:latin typeface="Segoe UI"/>
              </a:rPr>
              <a:t>06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5120640"/>
            <a:ext cx="502920" cy="4572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5257800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Matching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160520"/>
            <a:ext cx="256032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14285F"/>
                </a:solidFill>
                <a:latin typeface="Segoe UI"/>
              </a:rPr>
              <a:t>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5120640"/>
            <a:ext cx="502920" cy="45720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5257800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Team &amp; progress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160520"/>
            <a:ext cx="256032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C81423"/>
                </a:solidFill>
                <a:latin typeface="Segoe UI"/>
              </a:rPr>
              <a:t>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5120640"/>
            <a:ext cx="502920" cy="4572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69680" y="5257800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1B1F27"/>
                </a:solidFill>
                <a:latin typeface="Segoe UI Semibold"/>
              </a:rPr>
              <a:t>Impact &amp;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What Is BloodConnect?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10908792" cy="1005840"/>
          </a:xfrm>
          <a:prstGeom prst="roundRect">
            <a:avLst>
              <a:gd name="adj" fmla="val 15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73152" cy="73152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1965960"/>
            <a:ext cx="10424160" cy="10058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4285F"/>
                </a:solidFill>
                <a:latin typeface="Segoe UI"/>
              </a:rPr>
              <a:t>A web app that finds compatible, available blood donors near a Bengaluru hospital — in one search.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461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19" y="3520440"/>
            <a:ext cx="685800" cy="68580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19" y="35204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520440"/>
            <a:ext cx="2103120" cy="6858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C81423"/>
                </a:solidFill>
                <a:latin typeface="Segoe UI"/>
              </a:rPr>
              <a:t>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4434840"/>
            <a:ext cx="2880360" cy="1188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B1F27"/>
                </a:solidFill>
                <a:latin typeface="Segoe UI Semibold"/>
              </a:rPr>
              <a:t>Donors add blood group, location, and availability.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1688" y="32461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81728" y="3520440"/>
            <a:ext cx="685800" cy="68580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81728" y="35204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0408" y="3520440"/>
            <a:ext cx="2103120" cy="6858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14285F"/>
                </a:solidFill>
                <a:latin typeface="Segoe UI"/>
              </a:rPr>
              <a:t>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434840"/>
            <a:ext cx="2880360" cy="1188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B1F27"/>
                </a:solidFill>
                <a:latin typeface="Segoe UI Semibold"/>
              </a:rPr>
              <a:t>Families raise an emergency request for a hospital.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32461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03336" y="3520440"/>
            <a:ext cx="685800" cy="68580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03336" y="35204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2016" y="3520440"/>
            <a:ext cx="2103120" cy="6858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C81423"/>
                </a:solidFill>
                <a:latin typeface="Segoe UI"/>
              </a:rPr>
              <a:t>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4434840"/>
            <a:ext cx="2880360" cy="1188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B1F27"/>
                </a:solidFill>
                <a:latin typeface="Segoe UI Semibold"/>
              </a:rPr>
              <a:t>The app ranks compatible donors, nearest first.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474E5C"/>
                </a:solidFill>
                <a:latin typeface="Segoe UI Semibold"/>
              </a:rPr>
              <a:t>It speeds up the search. The hospital and blood bank still test and approve every unit.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Since Review 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34747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19" y="2194560"/>
            <a:ext cx="566928" cy="566928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19" y="21945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2194560"/>
            <a:ext cx="22860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C81423"/>
                </a:solidFill>
                <a:latin typeface="Segoe UI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2926080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BEFORE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3182112"/>
            <a:ext cx="28346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General blood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3703320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1423"/>
                </a:solidFill>
                <a:latin typeface="Segoe UI"/>
              </a:rPr>
              <a:t>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3950208"/>
            <a:ext cx="29260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B1F27"/>
                </a:solidFill>
                <a:latin typeface="Segoe UI"/>
              </a:rPr>
              <a:t>Bengaluru emergency match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19" y="46634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19" y="4663440"/>
            <a:ext cx="160020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4285F"/>
                </a:solidFill>
                <a:latin typeface="Segoe UI"/>
              </a:rPr>
              <a:t>Done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1965960"/>
            <a:ext cx="34747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681728" y="2194560"/>
            <a:ext cx="566928" cy="566928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81728" y="21945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5816" y="2194560"/>
            <a:ext cx="22860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14285F"/>
                </a:solidFill>
                <a:latin typeface="Segoe UI"/>
              </a:rPr>
              <a:t>Ownership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2926080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BEFORE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3182112"/>
            <a:ext cx="28346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No clear owners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703320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4285F"/>
                </a:solidFill>
                <a:latin typeface="Segoe UI"/>
              </a:rPr>
              <a:t>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3950208"/>
            <a:ext cx="29260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B1F27"/>
                </a:solidFill>
                <a:latin typeface="Segoe UI"/>
              </a:rPr>
              <a:t>Four members, four modules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81728" y="46634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81728" y="4663440"/>
            <a:ext cx="160020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4285F"/>
                </a:solidFill>
                <a:latin typeface="Segoe UI"/>
              </a:rPr>
              <a:t>Done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1965960"/>
            <a:ext cx="34747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403336" y="2194560"/>
            <a:ext cx="566928" cy="566928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03336" y="21945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2194560"/>
            <a:ext cx="22860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C81423"/>
                </a:solidFill>
                <a:latin typeface="Segoe UI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2926080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BEFORE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6" y="3182112"/>
            <a:ext cx="28346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No user baseline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3336" y="3703320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1423"/>
                </a:solidFill>
                <a:latin typeface="Segoe UI"/>
              </a:rPr>
              <a:t>NOW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3950208"/>
            <a:ext cx="29260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B1F27"/>
                </a:solidFill>
                <a:latin typeface="Segoe UI"/>
              </a:rPr>
              <a:t>Survey form only. No replies yet.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03336" y="46634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03336" y="4663440"/>
            <a:ext cx="160020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C81423"/>
                </a:solidFill>
                <a:latin typeface="Segoe UI"/>
              </a:rPr>
              <a:t>In progress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394960"/>
            <a:ext cx="10908792" cy="960120"/>
          </a:xfrm>
          <a:prstGeom prst="roundRect">
            <a:avLst>
              <a:gd name="adj" fmla="val 12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" y="5486400"/>
            <a:ext cx="1046988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81423"/>
                </a:solidFill>
                <a:latin typeface="Segoe UI"/>
              </a:rPr>
              <a:t>The 90-day rest is not a matcher rule.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Survey question 11 and the donor page mention a 90-day gap between whole-blood donations. mysql-schema.sql has no last-donation date, and MatchingService does not check one. A donor is included only when available is true.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20240"/>
            <a:ext cx="3657600" cy="19659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320040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Nearest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97480"/>
            <a:ext cx="3200400" cy="1051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In a shortage, find the closest available supply and raise a request [1].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920240"/>
            <a:ext cx="3657600" cy="19659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2011680"/>
            <a:ext cx="320040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35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97480"/>
            <a:ext cx="3200400" cy="1051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Median motor trip to the nearest blood bank in India [4].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920240"/>
            <a:ext cx="3657600" cy="19659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2011680"/>
            <a:ext cx="320040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16%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97480"/>
            <a:ext cx="3200400" cy="1051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of people can walk to a blood bank within 30 minutes [4].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23360"/>
            <a:ext cx="1088136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A centre can still be a drive away. An open request still needs a compatible donor nearby.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B1F27"/>
                </a:solidFill>
                <a:latin typeface="Segoe UI Semibold"/>
              </a:rPr>
              <a:t>Local problem: families still search by phone and WhatsApp while a hospital request is open.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265176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4285F"/>
                </a:solidFill>
                <a:latin typeface="Segoe UI Semibold"/>
              </a:rPr>
              <a:t>Patients &amp; families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548640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0" y="5486400"/>
            <a:ext cx="265176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4285F"/>
                </a:solidFill>
                <a:latin typeface="Segoe UI Semibold"/>
              </a:rPr>
              <a:t>Voluntary donors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548640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5486400"/>
            <a:ext cx="265176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4285F"/>
                </a:solidFill>
                <a:latin typeface="Segoe UI Semibold"/>
              </a:rPr>
              <a:t>Hospital desks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548640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5486400"/>
            <a:ext cx="265176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4285F"/>
                </a:solidFill>
                <a:latin typeface="Segoe UI Semibold"/>
              </a:rPr>
              <a:t>Blood banks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74E5C"/>
                </a:solidFill>
                <a:latin typeface="Segoe UI Semibold"/>
              </a:rPr>
              <a:t>Travel times are from Urs et al. [4], using 2024 e-RaktKosh locations. They measure centres, not a donor match.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Literature Survey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920240"/>
            <a:ext cx="38404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920240"/>
            <a:ext cx="38404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WHAT IT ACTUALLY SAYS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38404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1423"/>
                </a:solidFill>
                <a:latin typeface="Segoe UI"/>
              </a:rPr>
              <a:t>LIMIT OF OUR CLAIM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231136"/>
            <a:ext cx="1115568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267712"/>
            <a:ext cx="54864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[1]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267712"/>
            <a:ext cx="2788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Ghouri et al., 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267712"/>
            <a:ext cx="40690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Nearest supply, plus an SMS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267712"/>
            <a:ext cx="3154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81423"/>
                </a:solidFill>
                <a:latin typeface="Segoe UI Semibold"/>
              </a:rPr>
              <a:t>Interview model, not our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980944"/>
            <a:ext cx="54864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[2]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980944"/>
            <a:ext cx="2788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Shokouhifar et al., 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980944"/>
            <a:ext cx="40690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Forecasts donation and 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980944"/>
            <a:ext cx="3154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81423"/>
                </a:solidFill>
                <a:latin typeface="Segoe UI Semibold"/>
              </a:rPr>
              <a:t>A forecast, not a donor list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657600"/>
            <a:ext cx="1115568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694176"/>
            <a:ext cx="54864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[3]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694176"/>
            <a:ext cx="2788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James et al., 2014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3694176"/>
            <a:ext cx="40690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Area patterns guide recruitment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694176"/>
            <a:ext cx="3154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81423"/>
                </a:solidFill>
                <a:latin typeface="Segoe UI Semibold"/>
              </a:rPr>
              <a:t>Recruitment, not 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407408"/>
            <a:ext cx="54864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[4]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407408"/>
            <a:ext cx="2788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Urs et al.,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407408"/>
            <a:ext cx="40690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35 min drive; 16% within a walk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407408"/>
            <a:ext cx="3154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81423"/>
                </a:solidFill>
                <a:latin typeface="Segoe UI Semibold"/>
              </a:rPr>
              <a:t>Centres, not one request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084064"/>
            <a:ext cx="1115568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5120640"/>
            <a:ext cx="54864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[5]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120640"/>
            <a:ext cx="2788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ICSSAS,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5120640"/>
            <a:ext cx="40690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A DNN predicts who may donate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5120640"/>
            <a:ext cx="3154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81423"/>
                </a:solidFill>
                <a:latin typeface="Segoe UI Semibold"/>
              </a:rPr>
              <a:t>Their model, not our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We cite what each source states. We have not audited every blood-donor app in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The 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347472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0119" y="1965960"/>
            <a:ext cx="822960" cy="64008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119" y="2286000"/>
            <a:ext cx="530352" cy="530352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19" y="228600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2286000"/>
            <a:ext cx="228600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What these sources 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3063240"/>
            <a:ext cx="2834639" cy="169163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Nearest supply in a shortage [1]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Donation and demand forecasts [2]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Uneven travel to Indian centres [4]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1965960"/>
            <a:ext cx="347472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81727" y="1965960"/>
            <a:ext cx="822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81727" y="2286000"/>
            <a:ext cx="530352" cy="530352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7" y="228600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286000"/>
            <a:ext cx="228600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C81423"/>
                </a:solidFill>
                <a:latin typeface="Segoe UI"/>
              </a:rPr>
              <a:t>What we do not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7" y="3063240"/>
            <a:ext cx="2834639" cy="169163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Their forecast error as ours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That we built their DNN [5]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Walk time as our match 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1965960"/>
            <a:ext cx="347472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03336" y="1965960"/>
            <a:ext cx="822960" cy="64008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03336" y="2286000"/>
            <a:ext cx="530352" cy="530352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03336" y="228600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2286000"/>
            <a:ext cx="228600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What our code does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3063240"/>
            <a:ext cx="2834639" cy="169163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Ranks available, compatible donors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Hides the donor phone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Status: open, fulfilled, cancelled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074920"/>
            <a:ext cx="10917936" cy="123444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166360"/>
            <a:ext cx="10469880" cy="10515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Built today: a ranked list for one request. Not built: a stored donor reply.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Accept and decline need the planned request_responses table. The 90-day gap is not applied.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57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331720"/>
            <a:ext cx="73152" cy="123444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19" y="2331720"/>
            <a:ext cx="1280160" cy="11887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C81423"/>
                </a:solidFill>
                <a:latin typeface="Segoe U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441448"/>
            <a:ext cx="3566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14285F"/>
                </a:solidFill>
                <a:latin typeface="Segoe UI"/>
              </a:rPr>
              <a:t>Secure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990088"/>
            <a:ext cx="3566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Hashed passwords, token login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57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331720"/>
            <a:ext cx="73152" cy="1234440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59" y="2331720"/>
            <a:ext cx="1280160" cy="11887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14285F"/>
                </a:solidFill>
                <a:latin typeface="Segoe U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441448"/>
            <a:ext cx="3566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14285F"/>
                </a:solidFill>
                <a:latin typeface="Segoe UI"/>
              </a:rPr>
              <a:t>Donor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990088"/>
            <a:ext cx="3566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Group, location, availability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1148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389120"/>
            <a:ext cx="73152" cy="1234440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19" y="4389120"/>
            <a:ext cx="1280160" cy="11887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14285F"/>
                </a:solidFill>
                <a:latin typeface="Segoe U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498848"/>
            <a:ext cx="3566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14285F"/>
                </a:solidFill>
                <a:latin typeface="Segoe UI"/>
              </a:rPr>
              <a:t>Request 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047488"/>
            <a:ext cx="3566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Open, fulfilled, or cancelled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148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389120"/>
            <a:ext cx="73152" cy="123444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59" y="4389120"/>
            <a:ext cx="1280160" cy="11887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C81423"/>
                </a:solidFill>
                <a:latin typeface="Segoe U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498848"/>
            <a:ext cx="3566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14285F"/>
                </a:solidFill>
                <a:latin typeface="Segoe UI"/>
              </a:rPr>
              <a:t>Smart matching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047488"/>
            <a:ext cx="3566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474E5C"/>
                </a:solidFill>
                <a:latin typeface="Segoe UI Semibold"/>
              </a:rPr>
              <a:t>Compatibility + distance ranking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57400"/>
            <a:ext cx="2331720" cy="1600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23317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23317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HTML · CSS · 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127248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127248"/>
            <a:ext cx="132588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4285F"/>
                </a:solidFill>
                <a:latin typeface="Segoe UI"/>
              </a:rPr>
              <a:t>Ranjitha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35808" y="2697480"/>
            <a:ext cx="384048" cy="329184"/>
          </a:xfrm>
          <a:prstGeom prst="rightArrow">
            <a:avLst/>
          </a:prstGeom>
          <a:solidFill>
            <a:srgbClr val="47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74720" y="2057400"/>
            <a:ext cx="2331720" cy="1600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0" y="2148840"/>
            <a:ext cx="23317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651760"/>
            <a:ext cx="23317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http.server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3127248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77639" y="3127248"/>
            <a:ext cx="132588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81423"/>
                </a:solidFill>
                <a:latin typeface="Segoe UI"/>
              </a:rPr>
              <a:t>Files, not rank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870448" y="2697480"/>
            <a:ext cx="384048" cy="329184"/>
          </a:xfrm>
          <a:prstGeom prst="rightArrow">
            <a:avLst/>
          </a:prstGeom>
          <a:solidFill>
            <a:srgbClr val="47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09360" y="2057400"/>
            <a:ext cx="2331720" cy="1600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2148840"/>
            <a:ext cx="23317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Java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651760"/>
            <a:ext cx="23317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Spring Boot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3127248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12280" y="3127248"/>
            <a:ext cx="132588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4285F"/>
                </a:solidFill>
                <a:latin typeface="Segoe UI"/>
              </a:rPr>
              <a:t>Mithun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705088" y="2697480"/>
            <a:ext cx="384048" cy="329184"/>
          </a:xfrm>
          <a:prstGeom prst="rightArrow">
            <a:avLst/>
          </a:prstGeom>
          <a:solidFill>
            <a:srgbClr val="47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0" y="2057400"/>
            <a:ext cx="2331720" cy="1600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0" y="2148840"/>
            <a:ext cx="23317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3317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MySQL or H2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20" y="3127248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46920" y="3127248"/>
            <a:ext cx="132588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81423"/>
                </a:solidFill>
                <a:latin typeface="Segoe UI"/>
              </a:rPr>
              <a:t>Nikhil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INSIDE THE BACKEND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297680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7" y="4407408"/>
            <a:ext cx="2194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Auth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4828032"/>
            <a:ext cx="22402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JWT, BCrypt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1568" y="4297680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02736" y="4407408"/>
            <a:ext cx="2194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Donor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2736" y="4828032"/>
            <a:ext cx="22402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Profile, available flag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63056" y="4297680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64224" y="4407408"/>
            <a:ext cx="2194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Request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4224" y="4828032"/>
            <a:ext cx="22402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Open / fulfilled / cancelled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24544" y="4297680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25712" y="4407408"/>
            <a:ext cx="21945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MatchingService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25712" y="4828032"/>
            <a:ext cx="22402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Java ABO/Rh + Haversine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577840"/>
            <a:ext cx="1115568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81423"/>
                </a:solidFill>
                <a:latin typeface="Segoe UI"/>
              </a:rPr>
              <a:t>Python does not rank donors. Order is in MatchingService.java: available, then compatible, then nearest km, then score, then name.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74E5C"/>
                </a:solidFill>
                <a:latin typeface="Segoe UI Semibold"/>
              </a:rPr>
              <a:t>If the API is down, api.js substitutes demo data. Those screens are not the Java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4" name="Pentagon 13"/>
          <p:cNvSpPr/>
          <p:nvPr/>
        </p:nvSpPr>
        <p:spPr>
          <a:xfrm>
            <a:off x="640080" y="2103120"/>
            <a:ext cx="2258568" cy="1188720"/>
          </a:xfrm>
          <a:prstGeom prst="homePlat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03120"/>
            <a:ext cx="14173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Sign in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Donor or requester</a:t>
            </a:r>
          </a:p>
        </p:txBody>
      </p:sp>
      <p:sp>
        <p:nvSpPr>
          <p:cNvPr id="16" name="Chevron 15"/>
          <p:cNvSpPr/>
          <p:nvPr/>
        </p:nvSpPr>
        <p:spPr>
          <a:xfrm>
            <a:off x="2807208" y="2103120"/>
            <a:ext cx="2258568" cy="1188720"/>
          </a:xfrm>
          <a:prstGeom prst="chevron">
            <a:avLst/>
          </a:prstGeom>
          <a:solidFill>
            <a:srgbClr val="2A3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0128" y="2103120"/>
            <a:ext cx="14173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Request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Group &amp; hospital</a:t>
            </a:r>
          </a:p>
        </p:txBody>
      </p:sp>
      <p:sp>
        <p:nvSpPr>
          <p:cNvPr id="18" name="Chevron 17"/>
          <p:cNvSpPr/>
          <p:nvPr/>
        </p:nvSpPr>
        <p:spPr>
          <a:xfrm>
            <a:off x="4974336" y="2103120"/>
            <a:ext cx="2258568" cy="1188720"/>
          </a:xfrm>
          <a:prstGeom prst="chevron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77256" y="2103120"/>
            <a:ext cx="14173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Match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ABO/Rh + distance</a:t>
            </a:r>
          </a:p>
        </p:txBody>
      </p:sp>
      <p:sp>
        <p:nvSpPr>
          <p:cNvPr id="20" name="Chevron 19"/>
          <p:cNvSpPr/>
          <p:nvPr/>
        </p:nvSpPr>
        <p:spPr>
          <a:xfrm>
            <a:off x="7141464" y="2103120"/>
            <a:ext cx="2258568" cy="1188720"/>
          </a:xfrm>
          <a:prstGeom prst="chevron">
            <a:avLst/>
          </a:prstGeom>
          <a:solidFill>
            <a:srgbClr val="A8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44384" y="2103120"/>
            <a:ext cx="14173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Rank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Nearest first</a:t>
            </a:r>
          </a:p>
        </p:txBody>
      </p:sp>
      <p:sp>
        <p:nvSpPr>
          <p:cNvPr id="22" name="Chevron 21"/>
          <p:cNvSpPr/>
          <p:nvPr/>
        </p:nvSpPr>
        <p:spPr>
          <a:xfrm>
            <a:off x="9308592" y="2103120"/>
            <a:ext cx="2258568" cy="1188720"/>
          </a:xfrm>
          <a:prstGeom prst="chevron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11512" y="2103120"/>
            <a:ext cx="14173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Update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Request 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57600"/>
            <a:ext cx="53492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0119" y="3657600"/>
            <a:ext cx="822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19" y="3977639"/>
            <a:ext cx="4709159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C81423"/>
                </a:solidFill>
                <a:latin typeface="Segoe UI"/>
              </a:rPr>
              <a:t>Matching rule in Java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" y="4754879"/>
            <a:ext cx="4709159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600">
                <a:solidFill>
                  <a:srgbClr val="1B1F27"/>
                </a:solidFill>
                <a:latin typeface="Segoe UI Semibold"/>
              </a:rPr>
              <a:t>Keep available donors only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600">
                <a:solidFill>
                  <a:srgbClr val="1B1F27"/>
                </a:solidFill>
                <a:latin typeface="Segoe UI Semibold"/>
              </a:rPr>
              <a:t>Keep ABO/Rh compatible donors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600">
                <a:solidFill>
                  <a:srgbClr val="1B1F27"/>
                </a:solidFill>
                <a:latin typeface="Segoe UI Semibold"/>
              </a:rPr>
              <a:t>Sort by km, then score, then name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657600"/>
            <a:ext cx="53492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37959" y="3657600"/>
            <a:ext cx="822960" cy="64008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59" y="3977639"/>
            <a:ext cx="4709159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What is not in that sort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4754879"/>
            <a:ext cx="4709159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600">
                <a:solidFill>
                  <a:srgbClr val="1B1F27"/>
                </a:solidFill>
                <a:latin typeface="Segoe UI Semibold"/>
              </a:rPr>
              <a:t>Python is only the file server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600">
                <a:solidFill>
                  <a:srgbClr val="1B1F27"/>
                </a:solidFill>
                <a:latin typeface="Segoe UI Semibold"/>
              </a:rPr>
              <a:t>Score never overtakes a nearer donor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600">
                <a:solidFill>
                  <a:srgbClr val="1B1F27"/>
                </a:solidFill>
                <a:latin typeface="Segoe UI Semibold"/>
              </a:rPr>
              <a:t>Phone is omitted; replies are not stored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User Journeys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03120"/>
            <a:ext cx="1920240" cy="155448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103120"/>
            <a:ext cx="1920240" cy="1554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Requester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240279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66160" y="2377439"/>
            <a:ext cx="457200" cy="45720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237743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880360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Register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27448" y="2743200"/>
            <a:ext cx="310896" cy="274320"/>
          </a:xfrm>
          <a:prstGeom prst="rightArrow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74920" y="2240279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60720" y="2377439"/>
            <a:ext cx="457200" cy="45720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20" y="237743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2880360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Create request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922008" y="2743200"/>
            <a:ext cx="310896" cy="274320"/>
          </a:xfrm>
          <a:prstGeom prst="rightArrow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269479" y="2240279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55279" y="2377439"/>
            <a:ext cx="457200" cy="45720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79" y="237743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19" y="2880360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See ranked donors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116567" y="2743200"/>
            <a:ext cx="310896" cy="274320"/>
          </a:xfrm>
          <a:prstGeom prst="rightArrow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464040" y="2240279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49840" y="2377439"/>
            <a:ext cx="457200" cy="45720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49840" y="237743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2880360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Mark fulfilled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206240"/>
            <a:ext cx="1920240" cy="155448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206240"/>
            <a:ext cx="1920240" cy="1554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Donor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80360" y="434340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566160" y="4480559"/>
            <a:ext cx="457200" cy="45720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60" y="448055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4983479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Register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727448" y="4846320"/>
            <a:ext cx="310896" cy="274320"/>
          </a:xfrm>
          <a:prstGeom prst="rightArrow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074920" y="434340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760720" y="4480559"/>
            <a:ext cx="457200" cy="45720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60720" y="448055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59" y="4983479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Add group &amp; location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6922008" y="4846320"/>
            <a:ext cx="310896" cy="274320"/>
          </a:xfrm>
          <a:prstGeom prst="rightArrow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269479" y="434340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955279" y="4480559"/>
            <a:ext cx="457200" cy="45720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55279" y="448055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19" y="4983479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Set available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9116567" y="4846320"/>
            <a:ext cx="310896" cy="274320"/>
          </a:xfrm>
          <a:prstGeom prst="rightArrow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464040" y="434340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149840" y="4480559"/>
            <a:ext cx="457200" cy="45720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49840" y="448055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55480" y="4983479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1F27"/>
                </a:solidFill>
                <a:latin typeface="Segoe UI"/>
              </a:rPr>
              <a:t>Phone stays hidden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Blood Group Compatibility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74519"/>
            <a:ext cx="11887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81423"/>
                </a:solidFill>
                <a:latin typeface="Segoe UI"/>
              </a:rPr>
              <a:t>PATIENT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1874519"/>
            <a:ext cx="56692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474E5C"/>
                </a:solidFill>
                <a:latin typeface="Segoe UI"/>
              </a:rPr>
              <a:t>PACKED RED CELLS THE PATIENT CAN RECEIVE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12848"/>
            <a:ext cx="7452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2249424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249424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O−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212848"/>
            <a:ext cx="585216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2491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72491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O+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688336"/>
            <a:ext cx="585216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O+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163824"/>
            <a:ext cx="7452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320040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200400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163824"/>
            <a:ext cx="585216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A−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675887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675887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639312"/>
            <a:ext cx="585216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O+, A−, A+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14800"/>
            <a:ext cx="7452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" y="4151376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151376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B−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114800"/>
            <a:ext cx="585216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B−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626864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626864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B+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590288"/>
            <a:ext cx="585216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O+, B−, B+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745236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0080" y="510235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510235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AB−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065776"/>
            <a:ext cx="585216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A−, B−, AB−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57784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577840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AB+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5541264"/>
            <a:ext cx="585216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O−, O+, A−, A+, B−, B+, AB−, AB+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2212848"/>
            <a:ext cx="35204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458200" y="2212848"/>
            <a:ext cx="822960" cy="64008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58200" y="2532888"/>
            <a:ext cx="288036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Checked in code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10128"/>
            <a:ext cx="2880360" cy="2606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400">
                <a:solidFill>
                  <a:srgbClr val="1B1F27"/>
                </a:solidFill>
                <a:latin typeface="Segoe UI Semibold"/>
              </a:rPr>
              <a:t>Same 8 rows as isCompatible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400">
                <a:solidFill>
                  <a:srgbClr val="1B1F27"/>
                </a:solidFill>
                <a:latin typeface="Segoe UI Semibold"/>
              </a:rPr>
              <a:t>O− is on every row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400">
                <a:solidFill>
                  <a:srgbClr val="1B1F27"/>
                </a:solidFill>
                <a:latin typeface="Segoe UI Semibold"/>
              </a:rPr>
              <a:t>AB+ lists all 8 groups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400">
                <a:solidFill>
                  <a:srgbClr val="1B1F27"/>
                </a:solidFill>
                <a:latin typeface="Segoe UI Semibold"/>
              </a:rPr>
              <a:t>Rh− rows take only Rh−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400">
                <a:solidFill>
                  <a:srgbClr val="1B1F27"/>
                </a:solidFill>
                <a:latin typeface="Segoe UI Semibold"/>
              </a:rPr>
              <a:t>JUnit covers these pairs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74E5C"/>
                </a:solidFill>
                <a:latin typeface="Segoe UI Semibold"/>
              </a:rPr>
              <a:t>Plasma compatibility is the reverse. It is not coded. This chart is red cells only.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Ranking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20240"/>
            <a:ext cx="10908792" cy="777240"/>
          </a:xfrm>
          <a:prstGeom prst="roundRect">
            <a:avLst>
              <a:gd name="adj" fmla="val 2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1920240"/>
            <a:ext cx="1042416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4285F"/>
                </a:solidFill>
                <a:latin typeface="Segoe UI"/>
              </a:rPr>
              <a:t>Sample request:  O+ blood  ·  2 units  ·  Victoria Hospital, Bengaluru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80360"/>
            <a:ext cx="8686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2880360"/>
            <a:ext cx="2057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DONOR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880360"/>
            <a:ext cx="1234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880360"/>
            <a:ext cx="1554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80360"/>
            <a:ext cx="1280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880360"/>
            <a:ext cx="3913632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74E5C"/>
                </a:solidFill>
                <a:latin typeface="Segoe UI"/>
              </a:rPr>
              <a:t>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46120"/>
            <a:ext cx="10908792" cy="457200"/>
          </a:xfrm>
          <a:prstGeom prst="roundRect">
            <a:avLst>
              <a:gd name="adj" fmla="val 3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246120"/>
            <a:ext cx="86868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3246120"/>
            <a:ext cx="205740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Meera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246120"/>
            <a:ext cx="123444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O+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246120"/>
            <a:ext cx="155448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1.9 km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46120"/>
            <a:ext cx="12801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1F27"/>
                </a:solidFill>
                <a:latin typeface="Segoe UI"/>
              </a:rPr>
              <a:t>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46120"/>
            <a:ext cx="3913632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4285F"/>
                </a:solidFill>
                <a:latin typeface="Segoe UI Semibold"/>
              </a:rPr>
              <a:t>Nearest, so 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758183"/>
            <a:ext cx="86868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19" y="3758183"/>
            <a:ext cx="205740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Arjun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758183"/>
            <a:ext cx="123444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O−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758183"/>
            <a:ext cx="155448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2.4 km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758183"/>
            <a:ext cx="12801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1F27"/>
                </a:solidFill>
                <a:latin typeface="Segoe UI"/>
              </a:rPr>
              <a:t>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758183"/>
            <a:ext cx="3913632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4285F"/>
                </a:solidFill>
                <a:latin typeface="Segoe UI Semibold"/>
              </a:rPr>
              <a:t>Next nearest. Score loses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270248"/>
            <a:ext cx="10908792" cy="457200"/>
          </a:xfrm>
          <a:prstGeom prst="roundRect">
            <a:avLst>
              <a:gd name="adj" fmla="val 3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270248"/>
            <a:ext cx="86868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19" y="4270248"/>
            <a:ext cx="205740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Kiran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4270248"/>
            <a:ext cx="123444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O+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270248"/>
            <a:ext cx="155448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8.6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270248"/>
            <a:ext cx="12801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1F27"/>
                </a:solidFill>
                <a:latin typeface="Segoe UI"/>
              </a:rPr>
              <a:t>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270248"/>
            <a:ext cx="3913632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4285F"/>
                </a:solidFill>
                <a:latin typeface="Segoe UI Semibold"/>
              </a:rPr>
              <a:t>Higher score, still third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782312"/>
            <a:ext cx="86868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19" y="4782312"/>
            <a:ext cx="205740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Priya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782312"/>
            <a:ext cx="123444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AB+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4782312"/>
            <a:ext cx="155448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1.2 km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782312"/>
            <a:ext cx="12801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1F27"/>
                </a:solidFill>
                <a:latin typeface="Segoe UI"/>
              </a:rPr>
              <a:t>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782312"/>
            <a:ext cx="3913632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C81423"/>
                </a:solidFill>
                <a:latin typeface="Segoe UI Semibold"/>
              </a:rPr>
              <a:t>Skipped — not compatible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5294376"/>
            <a:ext cx="10908792" cy="457200"/>
          </a:xfrm>
          <a:prstGeom prst="roundRect">
            <a:avLst>
              <a:gd name="adj" fmla="val 3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5294376"/>
            <a:ext cx="86868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81423"/>
                </a:solidFill>
                <a:latin typeface="Segoe UI"/>
              </a:rPr>
              <a:t>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19" y="5294376"/>
            <a:ext cx="205740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4285F"/>
                </a:solidFill>
                <a:latin typeface="Segoe UI"/>
              </a:rPr>
              <a:t>Ravi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03320" y="5294376"/>
            <a:ext cx="123444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O+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5294376"/>
            <a:ext cx="155448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1F27"/>
                </a:solidFill>
                <a:latin typeface="Segoe UI Semibold"/>
              </a:rPr>
              <a:t>3.0 km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294376"/>
            <a:ext cx="12801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1F27"/>
                </a:solidFill>
                <a:latin typeface="Segoe UI"/>
              </a:rPr>
              <a:t>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5294376"/>
            <a:ext cx="3913632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C81423"/>
                </a:solidFill>
                <a:latin typeface="Segoe UI Semibold"/>
              </a:rPr>
              <a:t>Skipped — not available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806440"/>
            <a:ext cx="11155680" cy="621792"/>
          </a:xfrm>
          <a:prstGeom prst="roundRect">
            <a:avLst>
              <a:gd name="adj" fmla="val 12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" y="5806440"/>
            <a:ext cx="10881360" cy="6217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Order: nearest km, then higher score, then name. Score = 20 + 50 exact (30 if only compatible) + max(0, 30 − round(km)).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4285F"/>
                </a:solidFill>
                <a:latin typeface="Segoe UI Semibold"/>
              </a:rPr>
              <a:t>Worked example, not a database row. Kiran's 91 does not pass Arjun: 8.6 km is sorted before the score.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Database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20240"/>
            <a:ext cx="34747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1920240"/>
            <a:ext cx="3474720" cy="56692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920240"/>
            <a:ext cx="34747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app_users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606040"/>
            <a:ext cx="3017520" cy="1783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id (key)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email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password_hash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role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phone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1920240"/>
            <a:ext cx="34747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61688" y="1920240"/>
            <a:ext cx="3474720" cy="56692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14285F"/>
              </a:gs>
              <a:gs pos="100000">
                <a:srgbClr val="0A163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61688" y="1920240"/>
            <a:ext cx="34747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donor_profiles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606040"/>
            <a:ext cx="3017520" cy="1783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user_id → app_users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name, blood_group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location, lat / lng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available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1920240"/>
            <a:ext cx="34747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3474720" cy="56692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C81423"/>
              </a:gs>
              <a:gs pos="100000">
                <a:srgbClr val="8E0B1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3296" y="1920240"/>
            <a:ext cx="34747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blood_requests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606040"/>
            <a:ext cx="3017520" cy="1783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requester_id → app_users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patient_name, units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blood_group, hospital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urgency,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63440"/>
            <a:ext cx="111556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One user, one donor profile. One requester, many requests. A donor reply is not stored.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074920"/>
            <a:ext cx="11155680" cy="1234440"/>
          </a:xfrm>
          <a:prstGeom prst="roundRect">
            <a:avLst>
              <a:gd name="adj" fmla="val 1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166360"/>
            <a:ext cx="10698480" cy="1051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81423"/>
                </a:solidFill>
                <a:latin typeface="Segoe UI"/>
              </a:rPr>
              <a:t>Planned, not in mysql-schema.sql:  request_responses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B1F27"/>
                </a:solidFill>
                <a:latin typeface="Segoe UI Semibold"/>
              </a:rPr>
              <a:t>request_id → blood_requests    ·    donor_id → donor_profiles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B1F27"/>
                </a:solidFill>
                <a:latin typeface="Segoe UI Semibold"/>
              </a:rPr>
              <a:t>response: accepted or declined    ·    responded_at    ·    today the request has only OPEN, FULFILLED, or CANCELLED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Team &amp;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11680"/>
            <a:ext cx="256032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2286000"/>
            <a:ext cx="777240" cy="77724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36192" y="228600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54680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4285F"/>
                </a:solidFill>
                <a:latin typeface="Segoe UI"/>
              </a:rPr>
              <a:t>Ranjitha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93592"/>
            <a:ext cx="25603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C81423"/>
                </a:solidFill>
                <a:latin typeface="Segoe UI Semibold"/>
              </a:rPr>
              <a:t>Frontend &amp;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4041648"/>
            <a:ext cx="548640" cy="36576"/>
          </a:xfrm>
          <a:prstGeom prst="rect">
            <a:avLst/>
          </a:prstGeom>
          <a:solidFill>
            <a:srgbClr val="E8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2286000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Pages and forms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Dashboards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API connection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623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623560"/>
            <a:ext cx="18288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81423"/>
                </a:solidFill>
                <a:latin typeface="Segoe UI"/>
              </a:rPr>
              <a:t>HTML · CSS · JS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01568" y="2011680"/>
            <a:ext cx="256032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297679" y="2286000"/>
            <a:ext cx="777240" cy="77724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79" y="228600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3154680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4285F"/>
                </a:solidFill>
                <a:latin typeface="Segoe UI"/>
              </a:rPr>
              <a:t>Mithun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3593592"/>
            <a:ext cx="25603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4285F"/>
                </a:solidFill>
                <a:latin typeface="Segoe UI Semibold"/>
              </a:rPr>
              <a:t>Backend &amp; Auth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041648"/>
            <a:ext cx="548640" cy="36576"/>
          </a:xfrm>
          <a:prstGeom prst="rect">
            <a:avLst/>
          </a:prstGeom>
          <a:solidFill>
            <a:srgbClr val="E8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38727" y="4160520"/>
            <a:ext cx="2286000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Login and roles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Donor &amp; request APIs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Data security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67328" y="5623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67328" y="5623560"/>
            <a:ext cx="18288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4285F"/>
                </a:solidFill>
                <a:latin typeface="Segoe UI"/>
              </a:rPr>
              <a:t>Spring Boot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2011680"/>
            <a:ext cx="256032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059168" y="2286000"/>
            <a:ext cx="777240" cy="777240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59168" y="228600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3056" y="3154680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4285F"/>
                </a:solidFill>
                <a:latin typeface="Segoe UI"/>
              </a:rPr>
              <a:t>Nikhil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3593592"/>
            <a:ext cx="25603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C81423"/>
                </a:solidFill>
                <a:latin typeface="Segoe UI Semibold"/>
              </a:rPr>
              <a:t>Data &amp; Matching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8896" y="4041648"/>
            <a:ext cx="548640" cy="36576"/>
          </a:xfrm>
          <a:prstGeom prst="rect">
            <a:avLst/>
          </a:prstGeom>
          <a:solidFill>
            <a:srgbClr val="E8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0216" y="4160520"/>
            <a:ext cx="2286000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MySQL schema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Haversine distance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Rules in Java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28816" y="5623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28816" y="5623560"/>
            <a:ext cx="18288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81423"/>
                </a:solidFill>
                <a:latin typeface="Segoe UI"/>
              </a:rPr>
              <a:t>MySQL · Java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24544" y="2011680"/>
            <a:ext cx="256032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820656" y="2286000"/>
            <a:ext cx="777240" cy="777240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20656" y="228600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24544" y="3154680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4285F"/>
                </a:solidFill>
                <a:latin typeface="Segoe UI"/>
              </a:rPr>
              <a:t>Rakshitha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24544" y="3593592"/>
            <a:ext cx="25603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4285F"/>
                </a:solidFill>
                <a:latin typeface="Segoe UI Semibold"/>
              </a:rPr>
              <a:t>Research &amp; Docs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30384" y="4041648"/>
            <a:ext cx="548640" cy="36576"/>
          </a:xfrm>
          <a:prstGeom prst="rect">
            <a:avLst/>
          </a:prstGeom>
          <a:solidFill>
            <a:srgbClr val="E8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61704" y="4160520"/>
            <a:ext cx="2286000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Survey &amp; research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Report &amp; diary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Presentation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90304" y="5623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90304" y="5623560"/>
            <a:ext cx="18288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4285F"/>
                </a:solidFill>
                <a:latin typeface="Segoe UI"/>
              </a:rPr>
              <a:t>Forms · Docs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Methodology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2606040"/>
            <a:ext cx="9509760" cy="45720"/>
          </a:xfrm>
          <a:prstGeom prst="rect">
            <a:avLst/>
          </a:prstGeom>
          <a:solidFill>
            <a:srgbClr val="E8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1832" y="2240280"/>
            <a:ext cx="768096" cy="768096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224028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59" y="3108960"/>
            <a:ext cx="19202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4285F"/>
                </a:solidFill>
                <a:latin typeface="Segoe UI"/>
              </a:rPr>
              <a:t>Requirements</a:t>
            </a:r>
          </a:p>
        </p:txBody>
      </p:sp>
      <p:sp>
        <p:nvSpPr>
          <p:cNvPr id="18" name="Oval 17"/>
          <p:cNvSpPr/>
          <p:nvPr/>
        </p:nvSpPr>
        <p:spPr>
          <a:xfrm>
            <a:off x="2843784" y="2240280"/>
            <a:ext cx="768096" cy="768096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43784" y="224028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3108960"/>
            <a:ext cx="19202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4285F"/>
                </a:solidFill>
                <a:latin typeface="Segoe UI"/>
              </a:rPr>
              <a:t>Design</a:t>
            </a:r>
          </a:p>
        </p:txBody>
      </p:sp>
      <p:sp>
        <p:nvSpPr>
          <p:cNvPr id="21" name="Oval 20"/>
          <p:cNvSpPr/>
          <p:nvPr/>
        </p:nvSpPr>
        <p:spPr>
          <a:xfrm>
            <a:off x="4745736" y="2240280"/>
            <a:ext cx="768096" cy="768096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45736" y="224028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664" y="3108960"/>
            <a:ext cx="19202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4285F"/>
                </a:solidFill>
                <a:latin typeface="Segoe UI"/>
              </a:rPr>
              <a:t>Build</a:t>
            </a:r>
          </a:p>
        </p:txBody>
      </p:sp>
      <p:sp>
        <p:nvSpPr>
          <p:cNvPr id="24" name="Oval 23"/>
          <p:cNvSpPr/>
          <p:nvPr/>
        </p:nvSpPr>
        <p:spPr>
          <a:xfrm>
            <a:off x="6647688" y="2240280"/>
            <a:ext cx="768096" cy="768096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47688" y="224028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1616" y="3108960"/>
            <a:ext cx="19202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4285F"/>
                </a:solidFill>
                <a:latin typeface="Segoe UI"/>
              </a:rPr>
              <a:t>Integrate</a:t>
            </a:r>
          </a:p>
        </p:txBody>
      </p:sp>
      <p:sp>
        <p:nvSpPr>
          <p:cNvPr id="27" name="Oval 26"/>
          <p:cNvSpPr/>
          <p:nvPr/>
        </p:nvSpPr>
        <p:spPr>
          <a:xfrm>
            <a:off x="8549640" y="2240280"/>
            <a:ext cx="768096" cy="768096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9640" y="224028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7" y="3108960"/>
            <a:ext cx="19202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4285F"/>
                </a:solidFill>
                <a:latin typeface="Segoe UI"/>
              </a:rPr>
              <a:t>Test</a:t>
            </a:r>
          </a:p>
        </p:txBody>
      </p:sp>
      <p:sp>
        <p:nvSpPr>
          <p:cNvPr id="30" name="Oval 29"/>
          <p:cNvSpPr/>
          <p:nvPr/>
        </p:nvSpPr>
        <p:spPr>
          <a:xfrm>
            <a:off x="10451592" y="2240280"/>
            <a:ext cx="768096" cy="768096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51592" y="224028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3108960"/>
            <a:ext cx="19202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14285F"/>
                </a:solidFill>
                <a:latin typeface="Segoe UI"/>
              </a:rPr>
              <a:t>Document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703320"/>
            <a:ext cx="53492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0119" y="3703320"/>
            <a:ext cx="822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19" y="4023359"/>
            <a:ext cx="4709159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C81423"/>
                </a:solidFill>
                <a:latin typeface="Segoe UI"/>
              </a:rPr>
              <a:t>Tests written in the repo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19" y="4800599"/>
            <a:ext cx="4709159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MatchingServiceTest: 8 rows + order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MatchingApiTest: nearer donor, no phone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Auth, donor, request, and JWT tests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703320"/>
            <a:ext cx="53492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37959" y="3703320"/>
            <a:ext cx="822960" cy="64008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59" y="4023359"/>
            <a:ext cx="4709159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Not evidence yet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59" y="4800599"/>
            <a:ext cx="4709159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No passing mvn test log attached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Project target is Java 25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500">
                <a:solidFill>
                  <a:srgbClr val="1B1F27"/>
                </a:solidFill>
                <a:latin typeface="Segoe UI Semibold"/>
              </a:rPr>
              <a:t>No survey replies; demo fallback exists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Home Screen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10512"/>
            <a:ext cx="708660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1_homepage_white_t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25955"/>
            <a:ext cx="6858000" cy="42862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607808" y="1810512"/>
            <a:ext cx="4187952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07808" y="1810512"/>
            <a:ext cx="4187952" cy="73152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1993392"/>
            <a:ext cx="38404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4285F"/>
                </a:solidFill>
                <a:latin typeface="Segoe UI"/>
              </a:rPr>
              <a:t>What a visitor sees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2697480"/>
            <a:ext cx="3840480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Find donors, urgent request, and login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Become a donor is on the same page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Bengaluru is named in the banner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Group alone does not approve a transfusion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0688" y="4800600"/>
            <a:ext cx="3822191" cy="1325880"/>
          </a:xfrm>
          <a:prstGeom prst="roundRect">
            <a:avLst>
              <a:gd name="adj" fmla="val 1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36992" y="4892040"/>
            <a:ext cx="3547872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B1F27"/>
                </a:solidFill>
                <a:latin typeface="Segoe UI Semibold"/>
              </a:rPr>
              <a:t>Stock chips and the drop graphic are sample art, not a live blood-bank feed.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Emergency 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10512"/>
            <a:ext cx="708660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3_emergency_request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25955"/>
            <a:ext cx="6858000" cy="42862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607808" y="1810512"/>
            <a:ext cx="4187952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07808" y="1810512"/>
            <a:ext cx="4187952" cy="73152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1993392"/>
            <a:ext cx="38404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4285F"/>
                </a:solidFill>
                <a:latin typeface="Segoe UI"/>
              </a:rPr>
              <a:t>What the requester fills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2697480"/>
            <a:ext cx="3840480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Patient, blood group, units, and urgency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Contact, hospital, and Bengaluru area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A button can read the browser location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Sample: Anand Vardhan, O−, Victoria Hospital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0688" y="4800600"/>
            <a:ext cx="3822191" cy="1325880"/>
          </a:xfrm>
          <a:prstGeom prst="roundRect">
            <a:avLst>
              <a:gd name="adj" fmla="val 1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36992" y="4892040"/>
            <a:ext cx="3547872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B1F27"/>
                </a:solidFill>
                <a:latin typeface="Segoe UI Semibold"/>
              </a:rPr>
              <a:t>The AI alert line is page text. Ranking is done by the Java matcher.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Donor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10512"/>
            <a:ext cx="708660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5_donors_dir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41208"/>
            <a:ext cx="6858000" cy="385574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607808" y="1810512"/>
            <a:ext cx="4187952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07808" y="1810512"/>
            <a:ext cx="4187952" cy="73152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1993392"/>
            <a:ext cx="38404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4285F"/>
                </a:solidFill>
                <a:latin typeface="Segoe UI"/>
              </a:rPr>
              <a:t>How a search is started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2697480"/>
            <a:ext cx="3840480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Filter by group, city, and availability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The city on this screen is Bengaluru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Indiranagar, Koramangala, Whitefield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Sample: Dr Arjun K. Rao, O+, Indiranagar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0688" y="4800600"/>
            <a:ext cx="3822191" cy="1325880"/>
          </a:xfrm>
          <a:prstGeom prst="roundRect">
            <a:avLst>
              <a:gd name="adj" fmla="val 1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36992" y="4892040"/>
            <a:ext cx="3547872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B1F27"/>
                </a:solidFill>
                <a:latin typeface="Segoe UI Semibold"/>
              </a:rPr>
              <a:t>Verified and cooldown labels are sample text. The matcher uses available and distance.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Donor 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10512"/>
            <a:ext cx="708660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2_registration_complete_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25955"/>
            <a:ext cx="6858000" cy="42862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607808" y="1810512"/>
            <a:ext cx="4187952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07808" y="1810512"/>
            <a:ext cx="4187952" cy="73152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1993392"/>
            <a:ext cx="38404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4285F"/>
                </a:solidFill>
                <a:latin typeface="Segoe UI"/>
              </a:rPr>
              <a:t>What a donor is shown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2697480"/>
            <a:ext cx="3840480" cy="1965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Sample: Kiran Kumar Gowda, O+, Indiranagar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Incoming request for Victoria Hospital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Accept and Decline are drawn here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300">
                <a:solidFill>
                  <a:srgbClr val="1B1F27"/>
                </a:solidFill>
                <a:latin typeface="Segoe UI Semibold"/>
              </a:rPr>
              <a:t>The banner mentions a 90-day 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0688" y="4800600"/>
            <a:ext cx="3822191" cy="1325880"/>
          </a:xfrm>
          <a:prstGeom prst="roundRect">
            <a:avLst>
              <a:gd name="adj" fmla="val 10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36992" y="4892040"/>
            <a:ext cx="3547872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B1F27"/>
                </a:solidFill>
                <a:latin typeface="Segoe UI Semibold"/>
              </a:rPr>
              <a:t>A reply is not saved. The schema has no last-donation date. Sample data only.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Impact &amp; SDG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1168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0119" y="2011680"/>
            <a:ext cx="822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19" y="2331720"/>
            <a:ext cx="2834639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C81423"/>
                </a:solidFill>
                <a:latin typeface="Segoe UI"/>
              </a:rPr>
              <a:t>Who 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3108960"/>
            <a:ext cx="2834639" cy="237743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1F27"/>
                </a:solidFill>
                <a:latin typeface="Segoe UI Semibold"/>
              </a:rPr>
              <a:t>Patients &amp; families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1F27"/>
                </a:solidFill>
                <a:latin typeface="Segoe UI Semibold"/>
              </a:rPr>
              <a:t>Willing donors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81423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1F27"/>
                </a:solidFill>
                <a:latin typeface="Segoe UI Semibold"/>
              </a:rPr>
              <a:t>Hospital desks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01168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81727" y="2011680"/>
            <a:ext cx="822960" cy="64008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81727" y="2331720"/>
            <a:ext cx="2834639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We will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7" y="3108960"/>
            <a:ext cx="2834639" cy="237743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1F27"/>
                </a:solidFill>
                <a:latin typeface="Segoe UI Semibold"/>
              </a:rPr>
              <a:t>Time to a ranked list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1F27"/>
                </a:solidFill>
                <a:latin typeface="Segoe UI Semibold"/>
              </a:rPr>
              <a:t>Compatible and available only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4285F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1F27"/>
                </a:solidFill>
                <a:latin typeface="Segoe UI Semibold"/>
              </a:rPr>
              <a:t>Survey before vs. after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201168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4C9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2194560"/>
            <a:ext cx="30175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SDG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97480"/>
            <a:ext cx="30175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Good Health and Well-being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9327" y="3383280"/>
            <a:ext cx="50292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3520440"/>
            <a:ext cx="3017520" cy="1828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Ghouri et al. [1] link emergency blood supply to SDG 3: healthy lives and well-being.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Urs et al. [4]: travel to a blood bank is uneven across India.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We do not report a measured change in a health target.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06440"/>
            <a:ext cx="1090879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C81423"/>
                </a:solidFill>
                <a:latin typeface="Segoe UI"/>
              </a:rPr>
              <a:t>Ethics: passwords hashed · donor phone private · doctors approve every transfusion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Plan to Review II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6152" y="2240280"/>
            <a:ext cx="45720" cy="3017520"/>
          </a:xfrm>
          <a:prstGeom prst="rect">
            <a:avLst/>
          </a:prstGeom>
          <a:solidFill>
            <a:srgbClr val="E8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0392" y="2011680"/>
            <a:ext cx="768096" cy="768096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01168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Nov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011680"/>
            <a:ext cx="4937760" cy="7680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Demo on the Java API, not the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011680"/>
            <a:ext cx="2377440" cy="7680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>
                <a:solidFill>
                  <a:srgbClr val="474E5C"/>
                </a:solidFill>
                <a:latin typeface="Segoe UI Semibold"/>
              </a:rPr>
              <a:t>Ranjitha, Mithun</a:t>
            </a:r>
          </a:p>
        </p:txBody>
      </p:sp>
      <p:sp>
        <p:nvSpPr>
          <p:cNvPr id="19" name="Oval 18"/>
          <p:cNvSpPr/>
          <p:nvPr/>
        </p:nvSpPr>
        <p:spPr>
          <a:xfrm>
            <a:off x="850392" y="2926080"/>
            <a:ext cx="768096" cy="768096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292608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Nov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926080"/>
            <a:ext cx="4937760" cy="7680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Add reply table and last-donation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26080"/>
            <a:ext cx="2377440" cy="7680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>
                <a:solidFill>
                  <a:srgbClr val="474E5C"/>
                </a:solidFill>
                <a:latin typeface="Segoe UI Semibold"/>
              </a:rPr>
              <a:t>Nikhil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" y="3840480"/>
            <a:ext cx="768096" cy="768096"/>
          </a:xfrm>
          <a:prstGeom prst="ellipse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384048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Dec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840480"/>
            <a:ext cx="4937760" cy="7680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Survey replies, diary,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840480"/>
            <a:ext cx="2377440" cy="7680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>
                <a:solidFill>
                  <a:srgbClr val="474E5C"/>
                </a:solidFill>
                <a:latin typeface="Segoe UI Semibold"/>
              </a:rPr>
              <a:t>Rakshitha</a:t>
            </a:r>
          </a:p>
        </p:txBody>
      </p:sp>
      <p:sp>
        <p:nvSpPr>
          <p:cNvPr id="27" name="Oval 26"/>
          <p:cNvSpPr/>
          <p:nvPr/>
        </p:nvSpPr>
        <p:spPr>
          <a:xfrm>
            <a:off x="850392" y="4754880"/>
            <a:ext cx="768096" cy="768096"/>
          </a:xfrm>
          <a:prstGeom prst="ellipse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" y="475488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Dec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754880"/>
            <a:ext cx="4937760" cy="7680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285F"/>
                </a:solidFill>
                <a:latin typeface="Segoe UI"/>
              </a:rPr>
              <a:t>Run mvn test and full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754880"/>
            <a:ext cx="2377440" cy="7680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>
                <a:solidFill>
                  <a:srgbClr val="474E5C"/>
                </a:solidFill>
                <a:latin typeface="Segoe UI Semibold"/>
              </a:rPr>
              <a:t>All four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2011680"/>
            <a:ext cx="2240280" cy="2468880"/>
          </a:xfrm>
          <a:prstGeom prst="roundRect">
            <a:avLst>
              <a:gd name="adj" fmla="val 6000"/>
            </a:avLst>
          </a:prstGeom>
          <a:solidFill>
            <a:srgbClr val="F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28048" y="2194560"/>
            <a:ext cx="1874519" cy="2194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1423"/>
                </a:solidFill>
                <a:latin typeface="Segoe UI"/>
              </a:rPr>
              <a:t>RISK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Few survey replies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endParaRPr sz="1450" b="0">
              <a:solidFill>
                <a:srgbClr val="1B1F27"/>
              </a:solidFill>
              <a:latin typeface="Segoe UI Semibold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4285F"/>
                </a:solidFill>
                <a:latin typeface="Segoe UI"/>
              </a:rPr>
              <a:t>PLAN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1B1F27"/>
                </a:solidFill>
                <a:latin typeface="Segoe UI Semibold"/>
              </a:rPr>
              <a:t>Share in class; demo on sample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"/>
            <a:ext cx="502920" cy="4754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5256" y="164592"/>
            <a:ext cx="22860" cy="45720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9728"/>
            <a:ext cx="8686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4285F"/>
                </a:solidFill>
                <a:latin typeface="Segoe UI"/>
              </a:rPr>
              <a:t>BMS Institute of Technology and Management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C81423"/>
                </a:solidFill>
                <a:latin typeface="Segoe UI"/>
              </a:rPr>
              <a:t>Department of Artificial Intelligence and Machine Learning | Societal Project (1BSOP308)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14285F"/>
                </a:solidFill>
                <a:latin typeface="Segoe UI"/>
              </a:rPr>
              <a:t>References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196596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BloodConnect  ·  Review I  ·  BMSIT&amp;M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6556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65562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965960"/>
            <a:ext cx="113385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0352" y="2112264"/>
            <a:ext cx="493776" cy="493776"/>
          </a:xfrm>
          <a:prstGeom prst="roundRect">
            <a:avLst>
              <a:gd name="adj" fmla="val 3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11226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039112"/>
            <a:ext cx="82296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Ghouri et al., Journal of Business Research, 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368296"/>
            <a:ext cx="8138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u="sng">
                <a:solidFill>
                  <a:srgbClr val="C81423"/>
                </a:solidFill>
                <a:latin typeface="Segoe UI"/>
                <a:hlinkClick r:id="rId3"/>
              </a:rPr>
              <a:t>doi.org/10.1016/j.jbusres.2023.113980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9646920" y="2185415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46920" y="2185415"/>
            <a:ext cx="187451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Open source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834639"/>
            <a:ext cx="113385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0352" y="2980944"/>
            <a:ext cx="493776" cy="493776"/>
          </a:xfrm>
          <a:prstGeom prst="roundRect">
            <a:avLst>
              <a:gd name="adj" fmla="val 30000"/>
            </a:avLst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298094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2907791"/>
            <a:ext cx="82296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Shokouhifar and Ranjbarimesan, Cleaner Logistics and Supply Chain, 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236975"/>
            <a:ext cx="8138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u="sng">
                <a:solidFill>
                  <a:srgbClr val="14285F"/>
                </a:solidFill>
                <a:latin typeface="Segoe UI"/>
                <a:hlinkClick r:id="rId4"/>
              </a:rPr>
              <a:t>doi.org/10.1016/j.clscn.2022.100078</a:t>
            </a:r>
          </a:p>
        </p:txBody>
      </p:sp>
      <p:sp>
        <p:nvSpPr>
          <p:cNvPr id="26" name="Rounded Rectangle 25">
            <a:hlinkClick r:id="rId4"/>
          </p:cNvPr>
          <p:cNvSpPr/>
          <p:nvPr/>
        </p:nvSpPr>
        <p:spPr>
          <a:xfrm>
            <a:off x="9646920" y="3054096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46920" y="3054096"/>
            <a:ext cx="187451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Open source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703320"/>
            <a:ext cx="113385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30352" y="3849624"/>
            <a:ext cx="493776" cy="493776"/>
          </a:xfrm>
          <a:prstGeom prst="roundRect">
            <a:avLst>
              <a:gd name="adj" fmla="val 3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84962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3776472"/>
            <a:ext cx="82296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James et al., Transfusion, vol. 54, no. 12, pp. 3051–3060, 2014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4105656"/>
            <a:ext cx="8138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u="sng">
                <a:solidFill>
                  <a:srgbClr val="C81423"/>
                </a:solidFill>
                <a:latin typeface="Segoe UI"/>
                <a:hlinkClick r:id="rId5"/>
              </a:rPr>
              <a:t>doi.org/10.1111/trf.12740</a:t>
            </a:r>
          </a:p>
        </p:txBody>
      </p:sp>
      <p:sp>
        <p:nvSpPr>
          <p:cNvPr id="33" name="Rounded Rectangle 32">
            <a:hlinkClick r:id="rId5"/>
          </p:cNvPr>
          <p:cNvSpPr/>
          <p:nvPr/>
        </p:nvSpPr>
        <p:spPr>
          <a:xfrm>
            <a:off x="9646920" y="3922776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46920" y="3922776"/>
            <a:ext cx="187451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Open source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4572000"/>
            <a:ext cx="113385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30352" y="4718304"/>
            <a:ext cx="493776" cy="493776"/>
          </a:xfrm>
          <a:prstGeom prst="roundRect">
            <a:avLst>
              <a:gd name="adj" fmla="val 30000"/>
            </a:avLst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471830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0432" y="4645152"/>
            <a:ext cx="82296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Urs, Miyajiwala, Raj, and Zadey, Transfusion Medicine,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4974336"/>
            <a:ext cx="8138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u="sng">
                <a:solidFill>
                  <a:srgbClr val="14285F"/>
                </a:solidFill>
                <a:latin typeface="Segoe UI"/>
                <a:hlinkClick r:id="rId6"/>
              </a:rPr>
              <a:t>doi.org/10.1111/tme.70075</a:t>
            </a:r>
          </a:p>
        </p:txBody>
      </p:sp>
      <p:sp>
        <p:nvSpPr>
          <p:cNvPr id="40" name="Rounded Rectangle 39">
            <a:hlinkClick r:id="rId6"/>
          </p:cNvPr>
          <p:cNvSpPr/>
          <p:nvPr/>
        </p:nvSpPr>
        <p:spPr>
          <a:xfrm>
            <a:off x="9646920" y="4791456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142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46920" y="4791456"/>
            <a:ext cx="187451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Open source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5440679"/>
            <a:ext cx="113385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30352" y="5586983"/>
            <a:ext cx="493776" cy="493776"/>
          </a:xfrm>
          <a:prstGeom prst="roundRect">
            <a:avLst>
              <a:gd name="adj" fmla="val 3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" y="5586983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" y="5513831"/>
            <a:ext cx="82296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285F"/>
                </a:solidFill>
                <a:latin typeface="Segoe UI"/>
              </a:rPr>
              <a:t>ICSSAS 2025 — DNN-autoencoder and MERN donor prediction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0432" y="5843016"/>
            <a:ext cx="8138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u="sng">
                <a:solidFill>
                  <a:srgbClr val="C81423"/>
                </a:solidFill>
                <a:latin typeface="Segoe UI"/>
                <a:hlinkClick r:id="rId7"/>
              </a:rPr>
              <a:t>doi.org/10.1109/ICSSA66150.2025.11080959</a:t>
            </a:r>
          </a:p>
        </p:txBody>
      </p:sp>
      <p:sp>
        <p:nvSpPr>
          <p:cNvPr id="47" name="Rounded Rectangle 46">
            <a:hlinkClick r:id="rId7"/>
          </p:cNvPr>
          <p:cNvSpPr/>
          <p:nvPr/>
        </p:nvSpPr>
        <p:spPr>
          <a:xfrm>
            <a:off x="9646920" y="5660136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46920" y="5660136"/>
            <a:ext cx="187451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Open source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6684"/>
            <a:ext cx="9418320" cy="14617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901952"/>
            <a:ext cx="12191695" cy="54864"/>
          </a:xfrm>
          <a:prstGeom prst="rect">
            <a:avLst/>
          </a:prstGeom>
          <a:gradFill rotWithShape="1">
            <a:gsLst>
              <a:gs pos="0">
                <a:srgbClr val="14285F"/>
              </a:gs>
              <a:gs pos="100000">
                <a:srgbClr val="C8142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965960" y="2606040"/>
            <a:ext cx="8229600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965960" y="2606040"/>
            <a:ext cx="8229600" cy="91440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65960" y="3154680"/>
            <a:ext cx="8229600" cy="1280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6600" b="1">
                <a:solidFill>
                  <a:srgbClr val="14285F"/>
                </a:solidFill>
                <a:latin typeface="Segoe U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4617720"/>
            <a:ext cx="2011680" cy="64008"/>
          </a:xfrm>
          <a:prstGeom prst="rect">
            <a:avLst/>
          </a:prstGeom>
          <a:solidFill>
            <a:srgbClr val="C8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2515</Words>
  <Application>Microsoft Office PowerPoint</Application>
  <PresentationFormat>Widescreen</PresentationFormat>
  <Paragraphs>504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Societal Project (1BSOP308) - Review I Student Presentation Template</dc:title>
  <dc:subject>III Semester Societal Project Review I</dc:subject>
  <dc:creator>Department of AI &amp; ML, BMSIT&amp;M</dc:creator>
  <cp:keywords/>
  <dc:description>generated using python-pptx</dc:description>
  <cp:lastModifiedBy>Mani Kumar</cp:lastModifiedBy>
  <cp:revision>3</cp:revision>
  <dcterms:created xsi:type="dcterms:W3CDTF">2013-01-27T09:14:16Z</dcterms:created>
  <dcterms:modified xsi:type="dcterms:W3CDTF">2026-10-28T09:26:43Z</dcterms:modified>
  <cp:category/>
</cp:coreProperties>
</file>